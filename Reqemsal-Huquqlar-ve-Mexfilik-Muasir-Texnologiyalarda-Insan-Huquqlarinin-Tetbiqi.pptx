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Semi Bold"/>
      <p:regular r:id="rId17"/>
    </p:embeddedFont>
    <p:embeddedFont>
      <p:font typeface="DM Sans Semi Bold"/>
      <p:regular r:id="rId18"/>
    </p:embeddedFont>
    <p:embeddedFont>
      <p:font typeface="DM Sans Semi Bold"/>
      <p:regular r:id="rId19"/>
    </p:embeddedFont>
    <p:embeddedFont>
      <p:font typeface="DM Sans Semi Bold"/>
      <p:regular r:id="rId20"/>
    </p:embeddedFont>
    <p:embeddedFont>
      <p:font typeface="Inter Medium"/>
      <p:regular r:id="rId21"/>
    </p:embeddedFont>
    <p:embeddedFont>
      <p:font typeface="Inter Medium"/>
      <p:regular r:id="rId22"/>
    </p:embeddedFont>
    <p:embeddedFont>
      <p:font typeface="Inter Medium"/>
      <p:regular r:id="rId23"/>
    </p:embeddedFont>
    <p:embeddedFont>
      <p:font typeface="Inter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olicies.google.com/" TargetMode="External"/><Relationship Id="rId2" Type="http://schemas.openxmlformats.org/officeDocument/2006/relationships/hyperlink" Target="https://www.facebook.com/help/325807937506242/" TargetMode="External"/><Relationship Id="rId3" Type="http://schemas.openxmlformats.org/officeDocument/2006/relationships/hyperlink" Target="https://www.kapitalbank.az" TargetMode="External"/><Relationship Id="rId4" Type="http://schemas.openxmlformats.org/officeDocument/2006/relationships/hyperlink" Target="https://www.bbc.com/privacy" TargetMode="External"/><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0655" y="910471"/>
            <a:ext cx="7735491" cy="1886307"/>
          </a:xfrm>
          <a:prstGeom prst="rect">
            <a:avLst/>
          </a:prstGeom>
          <a:noFill/>
          <a:ln/>
        </p:spPr>
        <p:txBody>
          <a:bodyPr wrap="square" lIns="0" tIns="0" rIns="0" bIns="0" rtlCol="0" anchor="t"/>
          <a:lstStyle/>
          <a:p>
            <a:pPr algn="l" indent="0" marL="0">
              <a:lnSpc>
                <a:spcPts val="4950"/>
              </a:lnSpc>
              <a:buNone/>
            </a:pPr>
            <a:r>
              <a:rPr lang="en-US" sz="3950" dirty="0">
                <a:solidFill>
                  <a:srgbClr val="030303"/>
                </a:solidFill>
                <a:latin typeface="DM Sans Semi Bold" pitchFamily="34" charset="0"/>
                <a:ea typeface="DM Sans Semi Bold" pitchFamily="34" charset="-122"/>
                <a:cs typeface="DM Sans Semi Bold" pitchFamily="34" charset="-120"/>
              </a:rPr>
              <a:t>Rəqəmsal Hüquqlar və Məxfilik: Müasir Texnologiyalarda İnsan Hüquqlarının Tətbiqi</a:t>
            </a:r>
            <a:endParaRPr lang="en-US" sz="3950" dirty="0"/>
          </a:p>
        </p:txBody>
      </p:sp>
      <p:sp>
        <p:nvSpPr>
          <p:cNvPr id="4" name="Text 1"/>
          <p:cNvSpPr/>
          <p:nvPr/>
        </p:nvSpPr>
        <p:spPr>
          <a:xfrm>
            <a:off x="6190655" y="3098602"/>
            <a:ext cx="7735491" cy="1609725"/>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Bu təqdimatda rəqəmsal hüquqlar və məxfilik mövzularını, xüsusilə uşaqlıqda paylaşılan məlumatların silinməsi, məxfilik bildirişləri, tibbi məlumatların açıqlanması, marketinq mesajlarından imtina və süni intellektlə kredit qərarlarının risklərini müzakirə edəcəyik. İnsan hüquqlarının müasir texnologiyalarda necə qorunması və tətbiqi əsas diqqət mərkəzindədir.</a:t>
            </a:r>
            <a:endParaRPr lang="en-US" sz="1550" dirty="0"/>
          </a:p>
        </p:txBody>
      </p:sp>
      <p:sp>
        <p:nvSpPr>
          <p:cNvPr id="5" name="Text 2"/>
          <p:cNvSpPr/>
          <p:nvPr/>
        </p:nvSpPr>
        <p:spPr>
          <a:xfrm>
            <a:off x="6190655" y="4934664"/>
            <a:ext cx="7735491" cy="1287780"/>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Təqdimat boyunca hüquqi çərçivələr, texniki və etik məsələlər, həmçinin real dünya nümunələri və şirkətlərin yanaşmaları təqdim olunacaq.</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
</a:t>
            </a:r>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Kamal Hüseynəliyev</a:t>
            </a:r>
            <a:endParaRPr lang="en-US" sz="1550" dirty="0"/>
          </a:p>
        </p:txBody>
      </p:sp>
      <p:sp>
        <p:nvSpPr>
          <p:cNvPr id="6" name="Text 3"/>
          <p:cNvSpPr/>
          <p:nvPr/>
        </p:nvSpPr>
        <p:spPr>
          <a:xfrm>
            <a:off x="6190655" y="6448782"/>
            <a:ext cx="7735491" cy="321945"/>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İnformasiya Texnologiyaları</a:t>
            </a:r>
            <a:endParaRPr lang="en-US" sz="1550" dirty="0"/>
          </a:p>
        </p:txBody>
      </p:sp>
      <p:sp>
        <p:nvSpPr>
          <p:cNvPr id="7" name="Text 4"/>
          <p:cNvSpPr/>
          <p:nvPr/>
        </p:nvSpPr>
        <p:spPr>
          <a:xfrm>
            <a:off x="6190655" y="6997065"/>
            <a:ext cx="7735491" cy="321945"/>
          </a:xfrm>
          <a:prstGeom prst="rect">
            <a:avLst/>
          </a:prstGeom>
          <a:noFill/>
          <a:ln/>
        </p:spPr>
        <p:txBody>
          <a:bodyPr wrap="none" lIns="0" tIns="0" rIns="0" bIns="0" rtlCol="0" anchor="t"/>
          <a:lstStyle/>
          <a:p>
            <a:pPr algn="l" indent="0" marL="0">
              <a:lnSpc>
                <a:spcPts val="2500"/>
              </a:lnSpc>
              <a:buNone/>
            </a:pPr>
            <a:r>
              <a:rPr lang="en-US" sz="1550" b="1" dirty="0">
                <a:solidFill>
                  <a:srgbClr val="464646"/>
                </a:solidFill>
                <a:latin typeface="Inter Medium" pitchFamily="34" charset="0"/>
                <a:ea typeface="Inter Medium" pitchFamily="34" charset="-122"/>
                <a:cs typeface="Inter Medium" pitchFamily="34" charset="-120"/>
              </a:rPr>
              <a:t>Qrup: 570-2</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4822" y="613291"/>
            <a:ext cx="7727156" cy="1897380"/>
          </a:xfrm>
          <a:prstGeom prst="rect">
            <a:avLst/>
          </a:prstGeom>
          <a:noFill/>
          <a:ln/>
        </p:spPr>
        <p:txBody>
          <a:bodyPr wrap="square" lIns="0" tIns="0" rIns="0" bIns="0" rtlCol="0" anchor="t"/>
          <a:lstStyle/>
          <a:p>
            <a:pPr algn="l" indent="0" marL="0">
              <a:lnSpc>
                <a:spcPts val="4950"/>
              </a:lnSpc>
              <a:buNone/>
            </a:pPr>
            <a:r>
              <a:rPr lang="en-US" sz="3950" dirty="0">
                <a:solidFill>
                  <a:srgbClr val="030303"/>
                </a:solidFill>
                <a:latin typeface="DM Sans Semi Bold" pitchFamily="34" charset="0"/>
                <a:ea typeface="DM Sans Semi Bold" pitchFamily="34" charset="-122"/>
                <a:cs typeface="DM Sans Semi Bold" pitchFamily="34" charset="-120"/>
              </a:rPr>
              <a:t>Uşaqlıqda Paylaşılan Məlumatların Silinməsi və “Unudulmaq Hüququ”</a:t>
            </a:r>
            <a:endParaRPr lang="en-US" sz="3950" dirty="0"/>
          </a:p>
        </p:txBody>
      </p:sp>
      <p:sp>
        <p:nvSpPr>
          <p:cNvPr id="4" name="Shape 1"/>
          <p:cNvSpPr/>
          <p:nvPr/>
        </p:nvSpPr>
        <p:spPr>
          <a:xfrm>
            <a:off x="6194822" y="2814280"/>
            <a:ext cx="3762375" cy="2785586"/>
          </a:xfrm>
          <a:prstGeom prst="roundRect">
            <a:avLst>
              <a:gd name="adj" fmla="val 1090"/>
            </a:avLst>
          </a:prstGeom>
          <a:solidFill>
            <a:srgbClr val="F2EEEE"/>
          </a:solidFill>
          <a:ln/>
        </p:spPr>
      </p:sp>
      <p:sp>
        <p:nvSpPr>
          <p:cNvPr id="5" name="Text 2"/>
          <p:cNvSpPr/>
          <p:nvPr/>
        </p:nvSpPr>
        <p:spPr>
          <a:xfrm>
            <a:off x="6397228" y="3016687"/>
            <a:ext cx="3357563" cy="632460"/>
          </a:xfrm>
          <a:prstGeom prst="rect">
            <a:avLst/>
          </a:prstGeom>
          <a:noFill/>
          <a:ln/>
        </p:spPr>
        <p:txBody>
          <a:bodyPr wrap="square" lIns="0" tIns="0" rIns="0" bIns="0" rtlCol="0" anchor="t"/>
          <a:lstStyle/>
          <a:p>
            <a:pPr algn="l" indent="0" marL="0">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“Unudulmaq Hüququ” Nədir?</a:t>
            </a:r>
            <a:endParaRPr lang="en-US" sz="1950" dirty="0"/>
          </a:p>
        </p:txBody>
      </p:sp>
      <p:sp>
        <p:nvSpPr>
          <p:cNvPr id="6" name="Text 3"/>
          <p:cNvSpPr/>
          <p:nvPr/>
        </p:nvSpPr>
        <p:spPr>
          <a:xfrm>
            <a:off x="6397228" y="3770590"/>
            <a:ext cx="3357563" cy="1295400"/>
          </a:xfrm>
          <a:prstGeom prst="rect">
            <a:avLst/>
          </a:prstGeom>
          <a:noFill/>
          <a:ln/>
        </p:spPr>
        <p:txBody>
          <a:bodyPr wrap="square" lIns="0" tIns="0" rIns="0" bIns="0" rtlCol="0" anchor="t"/>
          <a:lstStyle/>
          <a:p>
            <a:pPr algn="l" indent="0" marL="0">
              <a:lnSpc>
                <a:spcPts val="2550"/>
              </a:lnSpc>
              <a:buNone/>
            </a:pPr>
            <a:r>
              <a:rPr lang="en-US" sz="1550" dirty="0">
                <a:solidFill>
                  <a:srgbClr val="464646"/>
                </a:solidFill>
                <a:latin typeface="Inter Medium" pitchFamily="34" charset="0"/>
                <a:ea typeface="Inter Medium" pitchFamily="34" charset="-122"/>
                <a:cs typeface="Inter Medium" pitchFamily="34" charset="-120"/>
              </a:rPr>
              <a:t>Avropa İttifaqının GDPR sənədində yer alan bu hüquq istifadəçiyə şəxsi məlumatların silinməsini tələb etmək imkanı verir.</a:t>
            </a:r>
            <a:endParaRPr lang="en-US" sz="1550" dirty="0"/>
          </a:p>
        </p:txBody>
      </p:sp>
      <p:sp>
        <p:nvSpPr>
          <p:cNvPr id="7" name="Shape 4"/>
          <p:cNvSpPr/>
          <p:nvPr/>
        </p:nvSpPr>
        <p:spPr>
          <a:xfrm>
            <a:off x="10159603" y="2814280"/>
            <a:ext cx="3762375" cy="2785586"/>
          </a:xfrm>
          <a:prstGeom prst="roundRect">
            <a:avLst>
              <a:gd name="adj" fmla="val 1090"/>
            </a:avLst>
          </a:prstGeom>
          <a:solidFill>
            <a:srgbClr val="F2EEEE"/>
          </a:solidFill>
          <a:ln/>
        </p:spPr>
      </p:sp>
      <p:sp>
        <p:nvSpPr>
          <p:cNvPr id="8" name="Text 5"/>
          <p:cNvSpPr/>
          <p:nvPr/>
        </p:nvSpPr>
        <p:spPr>
          <a:xfrm>
            <a:off x="10362009" y="3016687"/>
            <a:ext cx="3056692" cy="316230"/>
          </a:xfrm>
          <a:prstGeom prst="rect">
            <a:avLst/>
          </a:prstGeom>
          <a:noFill/>
          <a:ln/>
        </p:spPr>
        <p:txBody>
          <a:bodyPr wrap="none" lIns="0" tIns="0" rIns="0" bIns="0" rtlCol="0" anchor="t"/>
          <a:lstStyle/>
          <a:p>
            <a:pPr algn="l" indent="0" marL="0">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Uşaqlar üçün Əhəmiyyəti</a:t>
            </a:r>
            <a:endParaRPr lang="en-US" sz="1950" dirty="0"/>
          </a:p>
        </p:txBody>
      </p:sp>
      <p:sp>
        <p:nvSpPr>
          <p:cNvPr id="9" name="Text 6"/>
          <p:cNvSpPr/>
          <p:nvPr/>
        </p:nvSpPr>
        <p:spPr>
          <a:xfrm>
            <a:off x="10362009" y="3454360"/>
            <a:ext cx="3357563" cy="1943100"/>
          </a:xfrm>
          <a:prstGeom prst="rect">
            <a:avLst/>
          </a:prstGeom>
          <a:noFill/>
          <a:ln/>
        </p:spPr>
        <p:txBody>
          <a:bodyPr wrap="square" lIns="0" tIns="0" rIns="0" bIns="0" rtlCol="0" anchor="t"/>
          <a:lstStyle/>
          <a:p>
            <a:pPr algn="l" indent="0" marL="0">
              <a:lnSpc>
                <a:spcPts val="2550"/>
              </a:lnSpc>
              <a:buNone/>
            </a:pPr>
            <a:r>
              <a:rPr lang="en-US" sz="1550" dirty="0">
                <a:solidFill>
                  <a:srgbClr val="464646"/>
                </a:solidFill>
                <a:latin typeface="Inter Medium" pitchFamily="34" charset="0"/>
                <a:ea typeface="Inter Medium" pitchFamily="34" charset="-122"/>
                <a:cs typeface="Inter Medium" pitchFamily="34" charset="-120"/>
              </a:rPr>
              <a:t>Uşaq yaşlarında sosial şəbəkələrdə paylaşılan məlumatların silinməsi daha vacibdir, lakin məlumatın yayılma miqyası və texniki məhdudiyyətlər çətinlik yaradır.</a:t>
            </a:r>
            <a:endParaRPr lang="en-US" sz="1550" dirty="0"/>
          </a:p>
        </p:txBody>
      </p:sp>
      <p:sp>
        <p:nvSpPr>
          <p:cNvPr id="10" name="Shape 7"/>
          <p:cNvSpPr/>
          <p:nvPr/>
        </p:nvSpPr>
        <p:spPr>
          <a:xfrm>
            <a:off x="6194822" y="5802273"/>
            <a:ext cx="7727156" cy="1814036"/>
          </a:xfrm>
          <a:prstGeom prst="roundRect">
            <a:avLst>
              <a:gd name="adj" fmla="val 1674"/>
            </a:avLst>
          </a:prstGeom>
          <a:solidFill>
            <a:srgbClr val="F2EEEE"/>
          </a:solidFill>
          <a:ln/>
        </p:spPr>
      </p:sp>
      <p:sp>
        <p:nvSpPr>
          <p:cNvPr id="11" name="Text 8"/>
          <p:cNvSpPr/>
          <p:nvPr/>
        </p:nvSpPr>
        <p:spPr>
          <a:xfrm>
            <a:off x="6397228" y="6004679"/>
            <a:ext cx="3662839" cy="316230"/>
          </a:xfrm>
          <a:prstGeom prst="rect">
            <a:avLst/>
          </a:prstGeom>
          <a:noFill/>
          <a:ln/>
        </p:spPr>
        <p:txBody>
          <a:bodyPr wrap="none" lIns="0" tIns="0" rIns="0" bIns="0" rtlCol="0" anchor="t"/>
          <a:lstStyle/>
          <a:p>
            <a:pPr algn="l" indent="0" marL="0">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Facebook və Google Tətbiqləri</a:t>
            </a:r>
            <a:endParaRPr lang="en-US" sz="1950" dirty="0"/>
          </a:p>
        </p:txBody>
      </p:sp>
      <p:sp>
        <p:nvSpPr>
          <p:cNvPr id="12" name="Text 9"/>
          <p:cNvSpPr/>
          <p:nvPr/>
        </p:nvSpPr>
        <p:spPr>
          <a:xfrm>
            <a:off x="6397228" y="6442353"/>
            <a:ext cx="7322344" cy="971550"/>
          </a:xfrm>
          <a:prstGeom prst="rect">
            <a:avLst/>
          </a:prstGeom>
          <a:noFill/>
          <a:ln/>
        </p:spPr>
        <p:txBody>
          <a:bodyPr wrap="square" lIns="0" tIns="0" rIns="0" bIns="0" rtlCol="0" anchor="t"/>
          <a:lstStyle/>
          <a:p>
            <a:pPr algn="l" indent="0" marL="0">
              <a:lnSpc>
                <a:spcPts val="2550"/>
              </a:lnSpc>
              <a:buNone/>
            </a:pPr>
            <a:r>
              <a:rPr lang="en-US" sz="1550" dirty="0">
                <a:solidFill>
                  <a:srgbClr val="464646"/>
                </a:solidFill>
                <a:latin typeface="Inter Medium" pitchFamily="34" charset="0"/>
                <a:ea typeface="Inter Medium" pitchFamily="34" charset="-122"/>
                <a:cs typeface="Inter Medium" pitchFamily="34" charset="-120"/>
              </a:rPr>
              <a:t>Facebook istifadəçilərə məlumatları silmək imkanı verir, lakin serverdə bəzi məlumatlar qalır. Google isə axtarış nəticələrindən çıxarma təklif edir, amma orijinal mənbə qalır.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78700"/>
            <a:ext cx="11839575"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Məxfilik Bildirişləri: Anlaşıqlı və Yetərlidirmi?</a:t>
            </a:r>
            <a:endParaRPr lang="en-US" sz="4450" dirty="0"/>
          </a:p>
        </p:txBody>
      </p:sp>
      <p:sp>
        <p:nvSpPr>
          <p:cNvPr id="3" name="Text 1"/>
          <p:cNvSpPr/>
          <p:nvPr/>
        </p:nvSpPr>
        <p:spPr>
          <a:xfrm>
            <a:off x="793790" y="3254454"/>
            <a:ext cx="3978116" cy="708660"/>
          </a:xfrm>
          <a:prstGeom prst="rect">
            <a:avLst/>
          </a:prstGeom>
          <a:noFill/>
          <a:ln/>
        </p:spPr>
        <p:txBody>
          <a:bodyPr wrap="squar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Bildirişlərin Uzunluğu və Anlaşıqlığı</a:t>
            </a:r>
            <a:endParaRPr lang="en-US" sz="2200" dirty="0"/>
          </a:p>
        </p:txBody>
      </p:sp>
      <p:sp>
        <p:nvSpPr>
          <p:cNvPr id="4" name="Text 2"/>
          <p:cNvSpPr/>
          <p:nvPr/>
        </p:nvSpPr>
        <p:spPr>
          <a:xfrm>
            <a:off x="793790" y="4189928"/>
            <a:ext cx="3978116"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Məxfilik siyasətləri çox vaxt uzun və hüquqi terminlərlə yazılır, bu da istifadəçilərin başa düşməsini çətinləşdirir.</a:t>
            </a:r>
            <a:endParaRPr lang="en-US" sz="1750" dirty="0"/>
          </a:p>
        </p:txBody>
      </p:sp>
      <p:sp>
        <p:nvSpPr>
          <p:cNvPr id="5" name="Text 3"/>
          <p:cNvSpPr/>
          <p:nvPr/>
        </p:nvSpPr>
        <p:spPr>
          <a:xfrm>
            <a:off x="5332928" y="325445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Sektor Müqayisəsi</a:t>
            </a:r>
            <a:endParaRPr lang="en-US" sz="2200" dirty="0"/>
          </a:p>
        </p:txBody>
      </p:sp>
      <p:sp>
        <p:nvSpPr>
          <p:cNvPr id="6" name="Text 4"/>
          <p:cNvSpPr/>
          <p:nvPr/>
        </p:nvSpPr>
        <p:spPr>
          <a:xfrm>
            <a:off x="5332928" y="3835598"/>
            <a:ext cx="3978116"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Bank (Kapital Bank): 2300 söz, orta anlaşıqlıq</a:t>
            </a:r>
            <a:endParaRPr lang="en-US" sz="1750" dirty="0"/>
          </a:p>
        </p:txBody>
      </p:sp>
      <p:sp>
        <p:nvSpPr>
          <p:cNvPr id="7" name="Text 5"/>
          <p:cNvSpPr/>
          <p:nvPr/>
        </p:nvSpPr>
        <p:spPr>
          <a:xfrm>
            <a:off x="5332928" y="4640699"/>
            <a:ext cx="3978116"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Sosial Media (Instagram): 2800 söz, aşağı anlaşıqlıq</a:t>
            </a:r>
            <a:endParaRPr lang="en-US" sz="1750" dirty="0"/>
          </a:p>
        </p:txBody>
      </p:sp>
      <p:sp>
        <p:nvSpPr>
          <p:cNvPr id="8" name="Text 6"/>
          <p:cNvSpPr/>
          <p:nvPr/>
        </p:nvSpPr>
        <p:spPr>
          <a:xfrm>
            <a:off x="5332928" y="5445800"/>
            <a:ext cx="3978116"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Xəbər Saytı (BBC.com): 1500 söz, yüksək anlaşıqlıq</a:t>
            </a:r>
            <a:endParaRPr lang="en-US" sz="1750" dirty="0"/>
          </a:p>
        </p:txBody>
      </p:sp>
      <p:sp>
        <p:nvSpPr>
          <p:cNvPr id="9" name="Text 7"/>
          <p:cNvSpPr/>
          <p:nvPr/>
        </p:nvSpPr>
        <p:spPr>
          <a:xfrm>
            <a:off x="9872067" y="3254454"/>
            <a:ext cx="3491389"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Sadələşdirilmiş Versiyalar</a:t>
            </a:r>
            <a:endParaRPr lang="en-US" sz="2200" dirty="0"/>
          </a:p>
        </p:txBody>
      </p:sp>
      <p:sp>
        <p:nvSpPr>
          <p:cNvPr id="10" name="Text 8"/>
          <p:cNvSpPr/>
          <p:nvPr/>
        </p:nvSpPr>
        <p:spPr>
          <a:xfrm>
            <a:off x="9872067" y="3835598"/>
            <a:ext cx="3978116"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Sadələşdirilmiş mətnlər istifadəçilərə məlumatların necə istifadə olunduğunu daha aydın izah edir.</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466386"/>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Tibbi Məlumatların Açıqlanması və Elektron Səhiyyə Təsirləri</a:t>
            </a:r>
            <a:endParaRPr lang="en-US" sz="4450" dirty="0"/>
          </a:p>
        </p:txBody>
      </p:sp>
      <p:sp>
        <p:nvSpPr>
          <p:cNvPr id="4" name="Shape 1"/>
          <p:cNvSpPr/>
          <p:nvPr/>
        </p:nvSpPr>
        <p:spPr>
          <a:xfrm>
            <a:off x="793790" y="5224105"/>
            <a:ext cx="510302" cy="510302"/>
          </a:xfrm>
          <a:prstGeom prst="roundRect">
            <a:avLst>
              <a:gd name="adj" fmla="val 6667"/>
            </a:avLst>
          </a:prstGeom>
          <a:solidFill>
            <a:srgbClr val="F2EEEE"/>
          </a:solidFill>
          <a:ln/>
        </p:spPr>
      </p:sp>
      <p:sp>
        <p:nvSpPr>
          <p:cNvPr id="5" name="Text 2"/>
          <p:cNvSpPr/>
          <p:nvPr/>
        </p:nvSpPr>
        <p:spPr>
          <a:xfrm>
            <a:off x="1530906" y="530197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Etik Məsuliyyət</a:t>
            </a:r>
            <a:endParaRPr lang="en-US" sz="2200" dirty="0"/>
          </a:p>
        </p:txBody>
      </p:sp>
      <p:sp>
        <p:nvSpPr>
          <p:cNvPr id="6" name="Text 3"/>
          <p:cNvSpPr/>
          <p:nvPr/>
        </p:nvSpPr>
        <p:spPr>
          <a:xfrm>
            <a:off x="1530906" y="5792391"/>
            <a:ext cx="3421499"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Məlumat paylaşımı yalnız xəstənin razılığı ilə mümkündür, çünki tibbi məlumatlar həssas kateqoriyaya daxildir.</a:t>
            </a:r>
            <a:endParaRPr lang="en-US" sz="1750" dirty="0"/>
          </a:p>
        </p:txBody>
      </p:sp>
      <p:sp>
        <p:nvSpPr>
          <p:cNvPr id="7" name="Shape 4"/>
          <p:cNvSpPr/>
          <p:nvPr/>
        </p:nvSpPr>
        <p:spPr>
          <a:xfrm>
            <a:off x="5235893" y="5224105"/>
            <a:ext cx="510302" cy="510302"/>
          </a:xfrm>
          <a:prstGeom prst="roundRect">
            <a:avLst>
              <a:gd name="adj" fmla="val 6667"/>
            </a:avLst>
          </a:prstGeom>
          <a:solidFill>
            <a:srgbClr val="F2EEEE"/>
          </a:solidFill>
          <a:ln/>
        </p:spPr>
      </p:sp>
      <p:sp>
        <p:nvSpPr>
          <p:cNvPr id="8" name="Text 5"/>
          <p:cNvSpPr/>
          <p:nvPr/>
        </p:nvSpPr>
        <p:spPr>
          <a:xfrm>
            <a:off x="5973008" y="530197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Əngəllər</a:t>
            </a:r>
            <a:endParaRPr lang="en-US" sz="2200" dirty="0"/>
          </a:p>
        </p:txBody>
      </p:sp>
      <p:sp>
        <p:nvSpPr>
          <p:cNvPr id="9" name="Text 6"/>
          <p:cNvSpPr/>
          <p:nvPr/>
        </p:nvSpPr>
        <p:spPr>
          <a:xfrm>
            <a:off x="5973008" y="5792391"/>
            <a:ext cx="3421499"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Hüquqi boşluqlar, texniki bilik çatışmazlığı və sistem uyğunsuzluğu problemlər yaradır.</a:t>
            </a:r>
            <a:endParaRPr lang="en-US" sz="1750" dirty="0"/>
          </a:p>
        </p:txBody>
      </p:sp>
      <p:sp>
        <p:nvSpPr>
          <p:cNvPr id="10" name="Shape 7"/>
          <p:cNvSpPr/>
          <p:nvPr/>
        </p:nvSpPr>
        <p:spPr>
          <a:xfrm>
            <a:off x="9677995" y="5224105"/>
            <a:ext cx="510302" cy="510302"/>
          </a:xfrm>
          <a:prstGeom prst="roundRect">
            <a:avLst>
              <a:gd name="adj" fmla="val 6667"/>
            </a:avLst>
          </a:prstGeom>
          <a:solidFill>
            <a:srgbClr val="F2EEEE"/>
          </a:solidFill>
          <a:ln/>
        </p:spPr>
      </p:sp>
      <p:sp>
        <p:nvSpPr>
          <p:cNvPr id="11" name="Text 8"/>
          <p:cNvSpPr/>
          <p:nvPr/>
        </p:nvSpPr>
        <p:spPr>
          <a:xfrm>
            <a:off x="10415111" y="5301972"/>
            <a:ext cx="3421499" cy="708660"/>
          </a:xfrm>
          <a:prstGeom prst="rect">
            <a:avLst/>
          </a:prstGeom>
          <a:noFill/>
          <a:ln/>
        </p:spPr>
        <p:txBody>
          <a:bodyPr wrap="squar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Elektron Səhiyyə Sistemləri</a:t>
            </a:r>
            <a:endParaRPr lang="en-US" sz="2200" dirty="0"/>
          </a:p>
        </p:txBody>
      </p:sp>
      <p:sp>
        <p:nvSpPr>
          <p:cNvPr id="12" name="Text 9"/>
          <p:cNvSpPr/>
          <p:nvPr/>
        </p:nvSpPr>
        <p:spPr>
          <a:xfrm>
            <a:off x="10415111" y="6146721"/>
            <a:ext cx="3421499"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Yalnız səlahiyyətli tibb işçiləri giriş əldə edir, token və parol sistemi, auditing funksiyası mövcuddur.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89703"/>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Elektron Səhiyyə Sistemlərinin Güclü və Zəif Tərəfləri</a:t>
            </a:r>
            <a:endParaRPr lang="en-US" sz="4450" dirty="0"/>
          </a:p>
        </p:txBody>
      </p:sp>
      <p:sp>
        <p:nvSpPr>
          <p:cNvPr id="3" name="Text 1"/>
          <p:cNvSpPr/>
          <p:nvPr/>
        </p:nvSpPr>
        <p:spPr>
          <a:xfrm>
            <a:off x="793790" y="437423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Güclü Tərəflər</a:t>
            </a:r>
            <a:endParaRPr lang="en-US" sz="2200" dirty="0"/>
          </a:p>
        </p:txBody>
      </p:sp>
      <p:sp>
        <p:nvSpPr>
          <p:cNvPr id="4" name="Text 2"/>
          <p:cNvSpPr/>
          <p:nvPr/>
        </p:nvSpPr>
        <p:spPr>
          <a:xfrm>
            <a:off x="793790" y="495538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Sürətli məlumat ötürülməsi</a:t>
            </a:r>
            <a:endParaRPr lang="en-US" sz="1750" dirty="0"/>
          </a:p>
        </p:txBody>
      </p:sp>
      <p:sp>
        <p:nvSpPr>
          <p:cNvPr id="5" name="Text 3"/>
          <p:cNvSpPr/>
          <p:nvPr/>
        </p:nvSpPr>
        <p:spPr>
          <a:xfrm>
            <a:off x="793790" y="5397579"/>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Mərkəzləşdirilmiş məlumat bazası</a:t>
            </a:r>
            <a:endParaRPr lang="en-US" sz="1750" dirty="0"/>
          </a:p>
        </p:txBody>
      </p:sp>
      <p:sp>
        <p:nvSpPr>
          <p:cNvPr id="6" name="Text 4"/>
          <p:cNvSpPr/>
          <p:nvPr/>
        </p:nvSpPr>
        <p:spPr>
          <a:xfrm>
            <a:off x="7599521" y="437423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030303"/>
                </a:solidFill>
                <a:latin typeface="DM Sans Semi Bold" pitchFamily="34" charset="0"/>
                <a:ea typeface="DM Sans Semi Bold" pitchFamily="34" charset="-122"/>
                <a:cs typeface="DM Sans Semi Bold" pitchFamily="34" charset="-120"/>
              </a:rPr>
              <a:t>Zəif Tərəflər</a:t>
            </a:r>
            <a:endParaRPr lang="en-US" sz="2200" dirty="0"/>
          </a:p>
        </p:txBody>
      </p:sp>
      <p:sp>
        <p:nvSpPr>
          <p:cNvPr id="7" name="Text 5"/>
          <p:cNvSpPr/>
          <p:nvPr/>
        </p:nvSpPr>
        <p:spPr>
          <a:xfrm>
            <a:off x="7599521" y="495538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İT sistemlərinə etibarın azlığı</a:t>
            </a:r>
            <a:endParaRPr lang="en-US" sz="1750" dirty="0"/>
          </a:p>
        </p:txBody>
      </p:sp>
      <p:sp>
        <p:nvSpPr>
          <p:cNvPr id="8" name="Text 6"/>
          <p:cNvSpPr/>
          <p:nvPr/>
        </p:nvSpPr>
        <p:spPr>
          <a:xfrm>
            <a:off x="7599521" y="5397579"/>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Kibertəhlükəsizlik riskləri</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1045" y="750570"/>
            <a:ext cx="7661910" cy="1323261"/>
          </a:xfrm>
          <a:prstGeom prst="rect">
            <a:avLst/>
          </a:prstGeom>
          <a:noFill/>
          <a:ln/>
        </p:spPr>
        <p:txBody>
          <a:bodyPr wrap="square" lIns="0" tIns="0" rIns="0" bIns="0" rtlCol="0" anchor="t"/>
          <a:lstStyle/>
          <a:p>
            <a:pPr algn="l" indent="0" marL="0">
              <a:lnSpc>
                <a:spcPts val="5200"/>
              </a:lnSpc>
              <a:buNone/>
            </a:pPr>
            <a:r>
              <a:rPr lang="en-US" sz="4150" dirty="0">
                <a:solidFill>
                  <a:srgbClr val="030303"/>
                </a:solidFill>
                <a:latin typeface="DM Sans Semi Bold" pitchFamily="34" charset="0"/>
                <a:ea typeface="DM Sans Semi Bold" pitchFamily="34" charset="-122"/>
                <a:cs typeface="DM Sans Semi Bold" pitchFamily="34" charset="-120"/>
              </a:rPr>
              <a:t>Marketinq Mesajlarından İmtina və Reklam Bildirişləri</a:t>
            </a:r>
            <a:endParaRPr lang="en-US" sz="4150" dirty="0"/>
          </a:p>
        </p:txBody>
      </p:sp>
      <p:pic>
        <p:nvPicPr>
          <p:cNvPr id="4" name="Image 1" descr="preencoded.png">    </p:cNvPr>
          <p:cNvPicPr>
            <a:picLocks noChangeAspect="1"/>
          </p:cNvPicPr>
          <p:nvPr/>
        </p:nvPicPr>
        <p:blipFill>
          <a:blip r:embed="rId2"/>
          <a:stretch>
            <a:fillRect/>
          </a:stretch>
        </p:blipFill>
        <p:spPr>
          <a:xfrm>
            <a:off x="741045" y="2391370"/>
            <a:ext cx="1058585" cy="1896904"/>
          </a:xfrm>
          <a:prstGeom prst="rect">
            <a:avLst/>
          </a:prstGeom>
        </p:spPr>
      </p:pic>
      <p:sp>
        <p:nvSpPr>
          <p:cNvPr id="5" name="Text 1"/>
          <p:cNvSpPr/>
          <p:nvPr/>
        </p:nvSpPr>
        <p:spPr>
          <a:xfrm>
            <a:off x="2117169" y="2603063"/>
            <a:ext cx="2646640" cy="330756"/>
          </a:xfrm>
          <a:prstGeom prst="rect">
            <a:avLst/>
          </a:prstGeom>
          <a:noFill/>
          <a:ln/>
        </p:spPr>
        <p:txBody>
          <a:bodyPr wrap="none" lIns="0" tIns="0" rIns="0" bIns="0" rtlCol="0" anchor="t"/>
          <a:lstStyle/>
          <a:p>
            <a:pPr algn="l" indent="0" marL="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İmtina Prosedurları</a:t>
            </a:r>
            <a:endParaRPr lang="en-US" sz="2050" dirty="0"/>
          </a:p>
        </p:txBody>
      </p:sp>
      <p:sp>
        <p:nvSpPr>
          <p:cNvPr id="6" name="Text 2"/>
          <p:cNvSpPr/>
          <p:nvPr/>
        </p:nvSpPr>
        <p:spPr>
          <a:xfrm>
            <a:off x="2117169" y="3060740"/>
            <a:ext cx="6285786" cy="1015841"/>
          </a:xfrm>
          <a:prstGeom prst="rect">
            <a:avLst/>
          </a:prstGeom>
          <a:noFill/>
          <a:ln/>
        </p:spPr>
        <p:txBody>
          <a:bodyPr wrap="squar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İstifadəçilər e-mail altındakı “Abunəlikdən çıx” linki ilə marketinq mesajlarından imtina edə bilərlər, lakin bu həmişə effektiv deyil.</a:t>
            </a:r>
            <a:endParaRPr lang="en-US" sz="1650" dirty="0"/>
          </a:p>
        </p:txBody>
      </p:sp>
      <p:pic>
        <p:nvPicPr>
          <p:cNvPr id="7" name="Image 2" descr="preencoded.png">    </p:cNvPr>
          <p:cNvPicPr>
            <a:picLocks noChangeAspect="1"/>
          </p:cNvPicPr>
          <p:nvPr/>
        </p:nvPicPr>
        <p:blipFill>
          <a:blip r:embed="rId3"/>
          <a:stretch>
            <a:fillRect/>
          </a:stretch>
        </p:blipFill>
        <p:spPr>
          <a:xfrm>
            <a:off x="741045" y="4288274"/>
            <a:ext cx="1058585" cy="1632347"/>
          </a:xfrm>
          <a:prstGeom prst="rect">
            <a:avLst/>
          </a:prstGeom>
        </p:spPr>
      </p:pic>
      <p:sp>
        <p:nvSpPr>
          <p:cNvPr id="8" name="Text 3"/>
          <p:cNvSpPr/>
          <p:nvPr/>
        </p:nvSpPr>
        <p:spPr>
          <a:xfrm>
            <a:off x="2117169" y="4499967"/>
            <a:ext cx="3007757" cy="330756"/>
          </a:xfrm>
          <a:prstGeom prst="rect">
            <a:avLst/>
          </a:prstGeom>
          <a:noFill/>
          <a:ln/>
        </p:spPr>
        <p:txBody>
          <a:bodyPr wrap="none" lIns="0" tIns="0" rIns="0" bIns="0" rtlCol="0" anchor="t"/>
          <a:lstStyle/>
          <a:p>
            <a:pPr algn="l" indent="0" marL="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Mobil Reklam Bildirişləri</a:t>
            </a:r>
            <a:endParaRPr lang="en-US" sz="2050" dirty="0"/>
          </a:p>
        </p:txBody>
      </p:sp>
      <p:sp>
        <p:nvSpPr>
          <p:cNvPr id="9" name="Text 4"/>
          <p:cNvSpPr/>
          <p:nvPr/>
        </p:nvSpPr>
        <p:spPr>
          <a:xfrm>
            <a:off x="2117169" y="4957643"/>
            <a:ext cx="6285786" cy="338614"/>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464646"/>
                </a:solidFill>
                <a:latin typeface="Inter Medium" pitchFamily="34" charset="0"/>
                <a:ea typeface="Inter Medium" pitchFamily="34" charset="-122"/>
                <a:cs typeface="Inter Medium" pitchFamily="34" charset="-120"/>
              </a:rPr>
              <a:t>Android: Settings → Notifications → App → Disable</a:t>
            </a:r>
            <a:endParaRPr lang="en-US" sz="1650" dirty="0"/>
          </a:p>
        </p:txBody>
      </p:sp>
      <p:sp>
        <p:nvSpPr>
          <p:cNvPr id="10" name="Text 5"/>
          <p:cNvSpPr/>
          <p:nvPr/>
        </p:nvSpPr>
        <p:spPr>
          <a:xfrm>
            <a:off x="2117169" y="5370314"/>
            <a:ext cx="6285786" cy="338614"/>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464646"/>
                </a:solidFill>
                <a:latin typeface="Inter Medium" pitchFamily="34" charset="0"/>
                <a:ea typeface="Inter Medium" pitchFamily="34" charset="-122"/>
                <a:cs typeface="Inter Medium" pitchFamily="34" charset="-120"/>
              </a:rPr>
              <a:t>iOS: Settings → Notifications → App → Turn Off</a:t>
            </a:r>
            <a:endParaRPr lang="en-US" sz="1650" dirty="0"/>
          </a:p>
        </p:txBody>
      </p:sp>
      <p:pic>
        <p:nvPicPr>
          <p:cNvPr id="11" name="Image 3" descr="preencoded.png">    </p:cNvPr>
          <p:cNvPicPr>
            <a:picLocks noChangeAspect="1"/>
          </p:cNvPicPr>
          <p:nvPr/>
        </p:nvPicPr>
        <p:blipFill>
          <a:blip r:embed="rId4"/>
          <a:stretch>
            <a:fillRect/>
          </a:stretch>
        </p:blipFill>
        <p:spPr>
          <a:xfrm>
            <a:off x="741045" y="5920621"/>
            <a:ext cx="1058585" cy="1558290"/>
          </a:xfrm>
          <a:prstGeom prst="rect">
            <a:avLst/>
          </a:prstGeom>
        </p:spPr>
      </p:pic>
      <p:sp>
        <p:nvSpPr>
          <p:cNvPr id="12" name="Text 6"/>
          <p:cNvSpPr/>
          <p:nvPr/>
        </p:nvSpPr>
        <p:spPr>
          <a:xfrm>
            <a:off x="2117169" y="6132314"/>
            <a:ext cx="2646640" cy="330756"/>
          </a:xfrm>
          <a:prstGeom prst="rect">
            <a:avLst/>
          </a:prstGeom>
          <a:noFill/>
          <a:ln/>
        </p:spPr>
        <p:txBody>
          <a:bodyPr wrap="none" lIns="0" tIns="0" rIns="0" bIns="0" rtlCol="0" anchor="t"/>
          <a:lstStyle/>
          <a:p>
            <a:pPr algn="l" indent="0" marL="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Təkliflər</a:t>
            </a:r>
            <a:endParaRPr lang="en-US" sz="2050" dirty="0"/>
          </a:p>
        </p:txBody>
      </p:sp>
      <p:sp>
        <p:nvSpPr>
          <p:cNvPr id="13" name="Text 7"/>
          <p:cNvSpPr/>
          <p:nvPr/>
        </p:nvSpPr>
        <p:spPr>
          <a:xfrm>
            <a:off x="2117169" y="6589990"/>
            <a:ext cx="6285786" cy="677228"/>
          </a:xfrm>
          <a:prstGeom prst="rect">
            <a:avLst/>
          </a:prstGeom>
          <a:noFill/>
          <a:ln/>
        </p:spPr>
        <p:txBody>
          <a:bodyPr wrap="square" lIns="0" tIns="0" rIns="0" bIns="0" rtlCol="0" anchor="t"/>
          <a:lstStyle/>
          <a:p>
            <a:pPr algn="l" indent="0" marL="0">
              <a:lnSpc>
                <a:spcPts val="2650"/>
              </a:lnSpc>
              <a:buNone/>
            </a:pPr>
            <a:r>
              <a:rPr lang="en-US" sz="1650" dirty="0">
                <a:solidFill>
                  <a:srgbClr val="464646"/>
                </a:solidFill>
                <a:latin typeface="Inter Medium" pitchFamily="34" charset="0"/>
                <a:ea typeface="Inter Medium" pitchFamily="34" charset="-122"/>
                <a:cs typeface="Inter Medium" pitchFamily="34" charset="-120"/>
              </a:rPr>
              <a:t>Bir kliklik imtina sistemi, mesaj səbəbinin açıqlanması və aylıq məxfilik ayarlarının yoxlanması funksiyası təklif olunur.</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35330"/>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Süni İntellektlə Kredit Qərarları: Risklər və Şəffaflıq</a:t>
            </a:r>
            <a:endParaRPr lang="en-US" sz="4450" dirty="0"/>
          </a:p>
        </p:txBody>
      </p:sp>
      <p:sp>
        <p:nvSpPr>
          <p:cNvPr id="4" name="Shape 1"/>
          <p:cNvSpPr/>
          <p:nvPr/>
        </p:nvSpPr>
        <p:spPr>
          <a:xfrm>
            <a:off x="793790" y="3201829"/>
            <a:ext cx="3664863" cy="2395657"/>
          </a:xfrm>
          <a:prstGeom prst="roundRect">
            <a:avLst>
              <a:gd name="adj" fmla="val 1420"/>
            </a:avLst>
          </a:prstGeom>
          <a:solidFill>
            <a:srgbClr val="F2EEEE"/>
          </a:solidFill>
          <a:ln/>
        </p:spPr>
      </p:sp>
      <p:sp>
        <p:nvSpPr>
          <p:cNvPr id="5" name="Text 2"/>
          <p:cNvSpPr/>
          <p:nvPr/>
        </p:nvSpPr>
        <p:spPr>
          <a:xfrm>
            <a:off x="1020604" y="342864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Risklər</a:t>
            </a:r>
            <a:endParaRPr lang="en-US" sz="2200" dirty="0"/>
          </a:p>
        </p:txBody>
      </p:sp>
      <p:sp>
        <p:nvSpPr>
          <p:cNvPr id="6" name="Text 3"/>
          <p:cNvSpPr/>
          <p:nvPr/>
        </p:nvSpPr>
        <p:spPr>
          <a:xfrm>
            <a:off x="1020604" y="3919061"/>
            <a:ext cx="3211235"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Stereotipləşmə, keçmiş maliyyə davranışlarının səhv təhlili və diskriminasiya hallarına səbəb ola bilər.</a:t>
            </a:r>
            <a:endParaRPr lang="en-US" sz="1750" dirty="0"/>
          </a:p>
        </p:txBody>
      </p:sp>
      <p:sp>
        <p:nvSpPr>
          <p:cNvPr id="7" name="Shape 4"/>
          <p:cNvSpPr/>
          <p:nvPr/>
        </p:nvSpPr>
        <p:spPr>
          <a:xfrm>
            <a:off x="4685467" y="3201829"/>
            <a:ext cx="3664863" cy="2395657"/>
          </a:xfrm>
          <a:prstGeom prst="roundRect">
            <a:avLst>
              <a:gd name="adj" fmla="val 1420"/>
            </a:avLst>
          </a:prstGeom>
          <a:solidFill>
            <a:srgbClr val="F2EEEE"/>
          </a:solidFill>
          <a:ln/>
        </p:spPr>
      </p:sp>
      <p:sp>
        <p:nvSpPr>
          <p:cNvPr id="8" name="Text 5"/>
          <p:cNvSpPr/>
          <p:nvPr/>
        </p:nvSpPr>
        <p:spPr>
          <a:xfrm>
            <a:off x="4912281" y="3428643"/>
            <a:ext cx="3211235" cy="708660"/>
          </a:xfrm>
          <a:prstGeom prst="rect">
            <a:avLst/>
          </a:prstGeom>
          <a:noFill/>
          <a:ln/>
        </p:spPr>
        <p:txBody>
          <a:bodyPr wrap="squar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Diskriminasiya Nümunələri</a:t>
            </a:r>
            <a:endParaRPr lang="en-US" sz="2200" dirty="0"/>
          </a:p>
        </p:txBody>
      </p:sp>
      <p:sp>
        <p:nvSpPr>
          <p:cNvPr id="9" name="Text 6"/>
          <p:cNvSpPr/>
          <p:nvPr/>
        </p:nvSpPr>
        <p:spPr>
          <a:xfrm>
            <a:off x="4912281" y="4273391"/>
            <a:ext cx="3211235" cy="1088708"/>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ABŞ-da zənci icmaların kredit imtinası halları müşahidə olunub.</a:t>
            </a:r>
            <a:endParaRPr lang="en-US" sz="1750" dirty="0"/>
          </a:p>
        </p:txBody>
      </p:sp>
      <p:sp>
        <p:nvSpPr>
          <p:cNvPr id="10" name="Shape 7"/>
          <p:cNvSpPr/>
          <p:nvPr/>
        </p:nvSpPr>
        <p:spPr>
          <a:xfrm>
            <a:off x="793790" y="5824299"/>
            <a:ext cx="7556421" cy="1669852"/>
          </a:xfrm>
          <a:prstGeom prst="roundRect">
            <a:avLst>
              <a:gd name="adj" fmla="val 2038"/>
            </a:avLst>
          </a:prstGeom>
          <a:solidFill>
            <a:srgbClr val="F2EEEE"/>
          </a:solidFill>
          <a:ln/>
        </p:spPr>
      </p:sp>
      <p:sp>
        <p:nvSpPr>
          <p:cNvPr id="11" name="Text 8"/>
          <p:cNvSpPr/>
          <p:nvPr/>
        </p:nvSpPr>
        <p:spPr>
          <a:xfrm>
            <a:off x="1020604" y="60511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Qanunvericilik</a:t>
            </a:r>
            <a:endParaRPr lang="en-US" sz="2200" dirty="0"/>
          </a:p>
        </p:txBody>
      </p:sp>
      <p:sp>
        <p:nvSpPr>
          <p:cNvPr id="12" name="Text 9"/>
          <p:cNvSpPr/>
          <p:nvPr/>
        </p:nvSpPr>
        <p:spPr>
          <a:xfrm>
            <a:off x="1020604" y="6541532"/>
            <a:ext cx="7102793" cy="72580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GDPR “profiling” haqqında açıq məlumat, qərara etiraz və insani nəzarət tələb edir.</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707594"/>
            <a:ext cx="12661702"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AI Kredit Qərarlarında Hüquq və Risk Balansları</a:t>
            </a:r>
            <a:endParaRPr lang="en-US" sz="4450" dirty="0"/>
          </a:p>
        </p:txBody>
      </p:sp>
      <p:sp>
        <p:nvSpPr>
          <p:cNvPr id="3" name="Text 1"/>
          <p:cNvSpPr/>
          <p:nvPr/>
        </p:nvSpPr>
        <p:spPr>
          <a:xfrm>
            <a:off x="2200394" y="4087773"/>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Hüquq</a:t>
            </a:r>
            <a:endParaRPr lang="en-US" sz="2200" dirty="0"/>
          </a:p>
        </p:txBody>
      </p:sp>
      <p:sp>
        <p:nvSpPr>
          <p:cNvPr id="4" name="Text 2"/>
          <p:cNvSpPr/>
          <p:nvPr/>
        </p:nvSpPr>
        <p:spPr>
          <a:xfrm>
            <a:off x="793790" y="4578191"/>
            <a:ext cx="4241840" cy="725805"/>
          </a:xfrm>
          <a:prstGeom prst="rect">
            <a:avLst/>
          </a:prstGeom>
          <a:noFill/>
          <a:ln/>
        </p:spPr>
        <p:txBody>
          <a:bodyPr wrap="square" lIns="0" tIns="0" rIns="0" bIns="0" rtlCol="0" anchor="t"/>
          <a:lstStyle/>
          <a:p>
            <a:pPr algn="r"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İstifadəçinin məlumat hüquqları və qərara etiraz imkanı.</a:t>
            </a:r>
            <a:endParaRPr lang="en-US" sz="1750" dirty="0"/>
          </a:p>
        </p:txBody>
      </p:sp>
      <p:pic>
        <p:nvPicPr>
          <p:cNvPr id="5" name="Image 0" descr="preencoded.png">    </p:cNvPr>
          <p:cNvPicPr>
            <a:picLocks noChangeAspect="1"/>
          </p:cNvPicPr>
          <p:nvPr/>
        </p:nvPicPr>
        <p:blipFill>
          <a:blip r:embed="rId1"/>
          <a:stretch>
            <a:fillRect/>
          </a:stretch>
        </p:blipFill>
        <p:spPr>
          <a:xfrm>
            <a:off x="5489258" y="2870002"/>
            <a:ext cx="3651885" cy="3651885"/>
          </a:xfrm>
          <a:prstGeom prst="rect">
            <a:avLst/>
          </a:prstGeom>
        </p:spPr>
      </p:pic>
      <p:sp>
        <p:nvSpPr>
          <p:cNvPr id="6" name="Shape 3"/>
          <p:cNvSpPr/>
          <p:nvPr/>
        </p:nvSpPr>
        <p:spPr>
          <a:xfrm>
            <a:off x="5274231" y="4412456"/>
            <a:ext cx="566976" cy="566976"/>
          </a:xfrm>
          <a:prstGeom prst="roundRect">
            <a:avLst>
              <a:gd name="adj" fmla="val 1611154"/>
            </a:avLst>
          </a:prstGeom>
          <a:solidFill>
            <a:srgbClr val="F2EEEE"/>
          </a:solidFill>
          <a:ln/>
        </p:spPr>
      </p:sp>
      <p:sp>
        <p:nvSpPr>
          <p:cNvPr id="7" name="Text 4"/>
          <p:cNvSpPr/>
          <p:nvPr/>
        </p:nvSpPr>
        <p:spPr>
          <a:xfrm>
            <a:off x="5430083" y="4536400"/>
            <a:ext cx="255151" cy="318968"/>
          </a:xfrm>
          <a:prstGeom prst="rect">
            <a:avLst/>
          </a:prstGeom>
          <a:noFill/>
          <a:ln/>
        </p:spPr>
        <p:txBody>
          <a:bodyPr wrap="none" lIns="0" tIns="0" rIns="0" bIns="0" rtlCol="0" anchor="t"/>
          <a:lstStyle/>
          <a:p>
            <a:pPr algn="l" indent="0" marL="0">
              <a:lnSpc>
                <a:spcPts val="3200"/>
              </a:lnSpc>
              <a:buNone/>
            </a:pPr>
            <a:r>
              <a:rPr lang="en-US" sz="2000" dirty="0">
                <a:solidFill>
                  <a:srgbClr val="464646"/>
                </a:solidFill>
                <a:latin typeface="DM Sans Semi Bold" pitchFamily="34" charset="0"/>
                <a:ea typeface="DM Sans Semi Bold" pitchFamily="34" charset="-122"/>
                <a:cs typeface="DM Sans Semi Bold" pitchFamily="34" charset="-120"/>
              </a:rPr>
              <a:t>1</a:t>
            </a:r>
            <a:endParaRPr lang="en-US" sz="2000" dirty="0"/>
          </a:p>
        </p:txBody>
      </p:sp>
      <p:sp>
        <p:nvSpPr>
          <p:cNvPr id="8" name="Text 5"/>
          <p:cNvSpPr/>
          <p:nvPr/>
        </p:nvSpPr>
        <p:spPr>
          <a:xfrm>
            <a:off x="9481304" y="327124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Əhəmiyyət</a:t>
            </a:r>
            <a:endParaRPr lang="en-US" sz="2200" dirty="0"/>
          </a:p>
        </p:txBody>
      </p:sp>
      <p:sp>
        <p:nvSpPr>
          <p:cNvPr id="9" name="Text 6"/>
          <p:cNvSpPr/>
          <p:nvPr/>
        </p:nvSpPr>
        <p:spPr>
          <a:xfrm>
            <a:off x="9481304" y="3761661"/>
            <a:ext cx="4355306" cy="362903"/>
          </a:xfrm>
          <a:prstGeom prst="rect">
            <a:avLst/>
          </a:prstGeom>
          <a:noFill/>
          <a:ln/>
        </p:spPr>
        <p:txBody>
          <a:bodyPr wrap="non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AI-nin sürətli və effektiv qərar verməsi.</a:t>
            </a:r>
            <a:endParaRPr lang="en-US" sz="1750" dirty="0"/>
          </a:p>
        </p:txBody>
      </p:sp>
      <p:pic>
        <p:nvPicPr>
          <p:cNvPr id="10" name="Image 1" descr="preencoded.png">    </p:cNvPr>
          <p:cNvPicPr>
            <a:picLocks noChangeAspect="1"/>
          </p:cNvPicPr>
          <p:nvPr/>
        </p:nvPicPr>
        <p:blipFill>
          <a:blip r:embed="rId2"/>
          <a:stretch>
            <a:fillRect/>
          </a:stretch>
        </p:blipFill>
        <p:spPr>
          <a:xfrm>
            <a:off x="5489258" y="2870002"/>
            <a:ext cx="3651885" cy="3651885"/>
          </a:xfrm>
          <a:prstGeom prst="rect">
            <a:avLst/>
          </a:prstGeom>
        </p:spPr>
      </p:pic>
      <p:sp>
        <p:nvSpPr>
          <p:cNvPr id="11" name="Shape 7"/>
          <p:cNvSpPr/>
          <p:nvPr/>
        </p:nvSpPr>
        <p:spPr>
          <a:xfrm>
            <a:off x="7910393" y="2890361"/>
            <a:ext cx="566976" cy="566976"/>
          </a:xfrm>
          <a:prstGeom prst="roundRect">
            <a:avLst>
              <a:gd name="adj" fmla="val 1611154"/>
            </a:avLst>
          </a:prstGeom>
          <a:solidFill>
            <a:srgbClr val="F2EEEE"/>
          </a:solidFill>
          <a:ln/>
        </p:spPr>
      </p:sp>
      <p:sp>
        <p:nvSpPr>
          <p:cNvPr id="12" name="Text 8"/>
          <p:cNvSpPr/>
          <p:nvPr/>
        </p:nvSpPr>
        <p:spPr>
          <a:xfrm>
            <a:off x="8066246" y="3014305"/>
            <a:ext cx="255151" cy="318968"/>
          </a:xfrm>
          <a:prstGeom prst="rect">
            <a:avLst/>
          </a:prstGeom>
          <a:noFill/>
          <a:ln/>
        </p:spPr>
        <p:txBody>
          <a:bodyPr wrap="none" lIns="0" tIns="0" rIns="0" bIns="0" rtlCol="0" anchor="t"/>
          <a:lstStyle/>
          <a:p>
            <a:pPr algn="l" indent="0" marL="0">
              <a:lnSpc>
                <a:spcPts val="3200"/>
              </a:lnSpc>
              <a:buNone/>
            </a:pPr>
            <a:r>
              <a:rPr lang="en-US" sz="2000" dirty="0">
                <a:solidFill>
                  <a:srgbClr val="464646"/>
                </a:solidFill>
                <a:latin typeface="DM Sans Semi Bold" pitchFamily="34" charset="0"/>
                <a:ea typeface="DM Sans Semi Bold" pitchFamily="34" charset="-122"/>
                <a:cs typeface="DM Sans Semi Bold" pitchFamily="34" charset="-120"/>
              </a:rPr>
              <a:t>2</a:t>
            </a:r>
            <a:endParaRPr lang="en-US" sz="2000" dirty="0"/>
          </a:p>
        </p:txBody>
      </p:sp>
      <p:sp>
        <p:nvSpPr>
          <p:cNvPr id="13" name="Text 9"/>
          <p:cNvSpPr/>
          <p:nvPr/>
        </p:nvSpPr>
        <p:spPr>
          <a:xfrm>
            <a:off x="9481304" y="526720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Risklər</a:t>
            </a:r>
            <a:endParaRPr lang="en-US" sz="2200" dirty="0"/>
          </a:p>
        </p:txBody>
      </p:sp>
      <p:sp>
        <p:nvSpPr>
          <p:cNvPr id="14" name="Text 10"/>
          <p:cNvSpPr/>
          <p:nvPr/>
        </p:nvSpPr>
        <p:spPr>
          <a:xfrm>
            <a:off x="9481304" y="5757624"/>
            <a:ext cx="4355306" cy="362903"/>
          </a:xfrm>
          <a:prstGeom prst="rect">
            <a:avLst/>
          </a:prstGeom>
          <a:noFill/>
          <a:ln/>
        </p:spPr>
        <p:txBody>
          <a:bodyPr wrap="non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Qeyri-şəffaflıq və ayrıseçkilik riski.</a:t>
            </a:r>
            <a:endParaRPr lang="en-US" sz="1750" dirty="0"/>
          </a:p>
        </p:txBody>
      </p:sp>
      <p:pic>
        <p:nvPicPr>
          <p:cNvPr id="15" name="Image 2" descr="preencoded.png">    </p:cNvPr>
          <p:cNvPicPr>
            <a:picLocks noChangeAspect="1"/>
          </p:cNvPicPr>
          <p:nvPr/>
        </p:nvPicPr>
        <p:blipFill>
          <a:blip r:embed="rId3"/>
          <a:stretch>
            <a:fillRect/>
          </a:stretch>
        </p:blipFill>
        <p:spPr>
          <a:xfrm>
            <a:off x="5489258" y="2870002"/>
            <a:ext cx="3651885" cy="3651885"/>
          </a:xfrm>
          <a:prstGeom prst="rect">
            <a:avLst/>
          </a:prstGeom>
        </p:spPr>
      </p:pic>
      <p:sp>
        <p:nvSpPr>
          <p:cNvPr id="16" name="Shape 11"/>
          <p:cNvSpPr/>
          <p:nvPr/>
        </p:nvSpPr>
        <p:spPr>
          <a:xfrm>
            <a:off x="7910393" y="5934432"/>
            <a:ext cx="566976" cy="566976"/>
          </a:xfrm>
          <a:prstGeom prst="roundRect">
            <a:avLst>
              <a:gd name="adj" fmla="val 1611154"/>
            </a:avLst>
          </a:prstGeom>
          <a:solidFill>
            <a:srgbClr val="F2EEEE"/>
          </a:solidFill>
          <a:ln/>
        </p:spPr>
      </p:sp>
      <p:sp>
        <p:nvSpPr>
          <p:cNvPr id="17" name="Text 12"/>
          <p:cNvSpPr/>
          <p:nvPr/>
        </p:nvSpPr>
        <p:spPr>
          <a:xfrm>
            <a:off x="8066246" y="6058376"/>
            <a:ext cx="255151" cy="318968"/>
          </a:xfrm>
          <a:prstGeom prst="rect">
            <a:avLst/>
          </a:prstGeom>
          <a:noFill/>
          <a:ln/>
        </p:spPr>
        <p:txBody>
          <a:bodyPr wrap="none" lIns="0" tIns="0" rIns="0" bIns="0" rtlCol="0" anchor="t"/>
          <a:lstStyle/>
          <a:p>
            <a:pPr algn="l" indent="0" marL="0">
              <a:lnSpc>
                <a:spcPts val="3200"/>
              </a:lnSpc>
              <a:buNone/>
            </a:pPr>
            <a:r>
              <a:rPr lang="en-US" sz="2000" dirty="0">
                <a:solidFill>
                  <a:srgbClr val="464646"/>
                </a:solidFill>
                <a:latin typeface="DM Sans Semi Bold" pitchFamily="34" charset="0"/>
                <a:ea typeface="DM Sans Semi Bold" pitchFamily="34" charset="-122"/>
                <a:cs typeface="DM Sans Semi Bold" pitchFamily="34" charset="-120"/>
              </a:rPr>
              <a:t>3</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04392"/>
            <a:ext cx="6292334"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Ədəbiyyat və Resurslar</a:t>
            </a:r>
            <a:endParaRPr lang="en-US" sz="4450" dirty="0"/>
          </a:p>
        </p:txBody>
      </p:sp>
      <p:sp>
        <p:nvSpPr>
          <p:cNvPr id="3" name="Text 1"/>
          <p:cNvSpPr/>
          <p:nvPr/>
        </p:nvSpPr>
        <p:spPr>
          <a:xfrm>
            <a:off x="793790" y="2966799"/>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General Data Protection Regulation (GDPR), 2016</a:t>
            </a:r>
            <a:endParaRPr lang="en-US" sz="1750" dirty="0"/>
          </a:p>
        </p:txBody>
      </p:sp>
      <p:sp>
        <p:nvSpPr>
          <p:cNvPr id="4" name="Text 2"/>
          <p:cNvSpPr/>
          <p:nvPr/>
        </p:nvSpPr>
        <p:spPr>
          <a:xfrm>
            <a:off x="793790" y="3408998"/>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u="sng" dirty="0">
                <a:solidFill>
                  <a:srgbClr val="1C9770"/>
                </a:solidFill>
                <a:latin typeface="Inter Medium" pitchFamily="34" charset="0"/>
                <a:ea typeface="Inter Medium" pitchFamily="34" charset="-122"/>
                <a:cs typeface="Inter Medium"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Privacy and Terms</a:t>
            </a:r>
            <a:endParaRPr lang="en-US" sz="1750" dirty="0"/>
          </a:p>
        </p:txBody>
      </p:sp>
      <p:sp>
        <p:nvSpPr>
          <p:cNvPr id="5" name="Text 3"/>
          <p:cNvSpPr/>
          <p:nvPr/>
        </p:nvSpPr>
        <p:spPr>
          <a:xfrm>
            <a:off x="793790" y="3851196"/>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u="sng" dirty="0">
                <a:solidFill>
                  <a:srgbClr val="1C9770"/>
                </a:solidFill>
                <a:latin typeface="Inter Medium" pitchFamily="34" charset="0"/>
                <a:ea typeface="Inter Medium" pitchFamily="34" charset="-122"/>
                <a:cs typeface="Inter Medium" pitchFamily="34" charset="-120"/>
                <a:hlinkClick r:id="rId2" invalidUrl="" action="" tgtFrame="" tooltip="" history="1" highlightClick="0" endSnd="0">
                  <a:extLst>
                    <a:ext uri="{A12FA001-AC4F-418D-AE19-62706E023703}">
                      <ahyp:hlinkClr xmlns:ahyp="http://schemas.microsoft.com/office/drawing/2018/hyperlinkcolor" val="tx"/>
                    </a:ext>
                  </a:extLst>
                </a:hlinkClick>
              </a:rPr>
              <a:t>Facebook Privacy Help</a:t>
            </a:r>
            <a:endParaRPr lang="en-US" sz="1750" dirty="0"/>
          </a:p>
        </p:txBody>
      </p:sp>
      <p:sp>
        <p:nvSpPr>
          <p:cNvPr id="6" name="Text 4"/>
          <p:cNvSpPr/>
          <p:nvPr/>
        </p:nvSpPr>
        <p:spPr>
          <a:xfrm>
            <a:off x="793790" y="4293394"/>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u="sng" dirty="0">
                <a:solidFill>
                  <a:srgbClr val="1C9770"/>
                </a:solidFill>
                <a:latin typeface="Inter Medium" pitchFamily="34" charset="0"/>
                <a:ea typeface="Inter Medium" pitchFamily="34" charset="-122"/>
                <a:cs typeface="Inter Medium" pitchFamily="34" charset="-120"/>
                <a:hlinkClick r:id="rId3" invalidUrl="" action="" tgtFrame="" tooltip="" history="1" highlightClick="0" endSnd="0">
                  <a:extLst>
                    <a:ext uri="{A12FA001-AC4F-418D-AE19-62706E023703}">
                      <ahyp:hlinkClr xmlns:ahyp="http://schemas.microsoft.com/office/drawing/2018/hyperlinkcolor" val="tx"/>
                    </a:ext>
                  </a:extLst>
                </a:hlinkClick>
              </a:rPr>
              <a:t>Kapital Bank Məxfilik Siyasəti</a:t>
            </a:r>
            <a:endParaRPr lang="en-US" sz="1750" dirty="0"/>
          </a:p>
        </p:txBody>
      </p:sp>
      <p:sp>
        <p:nvSpPr>
          <p:cNvPr id="7" name="Text 5"/>
          <p:cNvSpPr/>
          <p:nvPr/>
        </p:nvSpPr>
        <p:spPr>
          <a:xfrm>
            <a:off x="793790" y="4735592"/>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u="sng" dirty="0">
                <a:solidFill>
                  <a:srgbClr val="1C9770"/>
                </a:solidFill>
                <a:latin typeface="Inter Medium" pitchFamily="34" charset="0"/>
                <a:ea typeface="Inter Medium" pitchFamily="34" charset="-122"/>
                <a:cs typeface="Inter Medium" pitchFamily="34" charset="-120"/>
                <a:hlinkClick r:id="rId4" invalidUrl="" action="" tgtFrame="" tooltip="" history="1" highlightClick="0" endSnd="0">
                  <a:extLst>
                    <a:ext uri="{A12FA001-AC4F-418D-AE19-62706E023703}">
                      <ahyp:hlinkClr xmlns:ahyp="http://schemas.microsoft.com/office/drawing/2018/hyperlinkcolor" val="tx"/>
                    </a:ext>
                  </a:extLst>
                </a:hlinkClick>
              </a:rPr>
              <a:t>BBC Privacy Policy</a:t>
            </a:r>
            <a:endParaRPr lang="en-US" sz="1750" dirty="0"/>
          </a:p>
        </p:txBody>
      </p:sp>
      <p:sp>
        <p:nvSpPr>
          <p:cNvPr id="8" name="Text 6"/>
          <p:cNvSpPr/>
          <p:nvPr/>
        </p:nvSpPr>
        <p:spPr>
          <a:xfrm>
            <a:off x="793790" y="5177790"/>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Azərbaycan Rəqəmsal Səhiyyə Portalı – E-Tibb Sistemi</a:t>
            </a:r>
            <a:endParaRPr lang="en-US" sz="1750" dirty="0"/>
          </a:p>
        </p:txBody>
      </p:sp>
      <p:sp>
        <p:nvSpPr>
          <p:cNvPr id="9" name="Text 7"/>
          <p:cNvSpPr/>
          <p:nvPr/>
        </p:nvSpPr>
        <p:spPr>
          <a:xfrm>
            <a:off x="793790" y="5619988"/>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“AI and Algorithmic Bias” - Harvard Kennedy School, 2021</a:t>
            </a:r>
            <a:endParaRPr lang="en-US" sz="1750" dirty="0"/>
          </a:p>
        </p:txBody>
      </p:sp>
      <p:sp>
        <p:nvSpPr>
          <p:cNvPr id="10" name="Text 8"/>
          <p:cNvSpPr/>
          <p:nvPr/>
        </p:nvSpPr>
        <p:spPr>
          <a:xfrm>
            <a:off x="793790" y="6062186"/>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464646"/>
                </a:solidFill>
                <a:latin typeface="Inter Medium" pitchFamily="34" charset="0"/>
                <a:ea typeface="Inter Medium" pitchFamily="34" charset="-122"/>
                <a:cs typeface="Inter Medium" pitchFamily="34" charset="-120"/>
              </a:rPr>
              <a:t>European Data Protection Board (EDPB) Rəyləri</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71324"/>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Yekun Nəticələr və Gələcək Addımlar</a:t>
            </a:r>
            <a:endParaRPr lang="en-US" sz="4450" dirty="0"/>
          </a:p>
        </p:txBody>
      </p:sp>
      <p:sp>
        <p:nvSpPr>
          <p:cNvPr id="4" name="Shape 1"/>
          <p:cNvSpPr/>
          <p:nvPr/>
        </p:nvSpPr>
        <p:spPr>
          <a:xfrm>
            <a:off x="793790" y="2829044"/>
            <a:ext cx="170021" cy="1216223"/>
          </a:xfrm>
          <a:prstGeom prst="roundRect">
            <a:avLst>
              <a:gd name="adj" fmla="val 20012"/>
            </a:avLst>
          </a:prstGeom>
          <a:solidFill>
            <a:srgbClr val="F2EEEE"/>
          </a:solidFill>
          <a:ln/>
        </p:spPr>
      </p:sp>
      <p:sp>
        <p:nvSpPr>
          <p:cNvPr id="5" name="Text 2"/>
          <p:cNvSpPr/>
          <p:nvPr/>
        </p:nvSpPr>
        <p:spPr>
          <a:xfrm>
            <a:off x="1303973" y="2829044"/>
            <a:ext cx="4905494"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Hüquqi Çərçivələrin Gücləndirilməsi</a:t>
            </a:r>
            <a:endParaRPr lang="en-US" sz="2200" dirty="0"/>
          </a:p>
        </p:txBody>
      </p:sp>
      <p:sp>
        <p:nvSpPr>
          <p:cNvPr id="6" name="Text 3"/>
          <p:cNvSpPr/>
          <p:nvPr/>
        </p:nvSpPr>
        <p:spPr>
          <a:xfrm>
            <a:off x="1303973" y="3319463"/>
            <a:ext cx="7046238" cy="72580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Məlumatların qorunması və unudulmaq hüququnun tətbiqində hüquqi boşluqların aradan qaldırılması vacibdir.</a:t>
            </a:r>
            <a:endParaRPr lang="en-US" sz="1750" dirty="0"/>
          </a:p>
        </p:txBody>
      </p:sp>
      <p:sp>
        <p:nvSpPr>
          <p:cNvPr id="7" name="Shape 4"/>
          <p:cNvSpPr/>
          <p:nvPr/>
        </p:nvSpPr>
        <p:spPr>
          <a:xfrm>
            <a:off x="1133951" y="4272082"/>
            <a:ext cx="170021" cy="1216223"/>
          </a:xfrm>
          <a:prstGeom prst="roundRect">
            <a:avLst>
              <a:gd name="adj" fmla="val 20012"/>
            </a:avLst>
          </a:prstGeom>
          <a:solidFill>
            <a:srgbClr val="F2EEEE"/>
          </a:solidFill>
          <a:ln/>
        </p:spPr>
      </p:sp>
      <p:sp>
        <p:nvSpPr>
          <p:cNvPr id="8" name="Text 5"/>
          <p:cNvSpPr/>
          <p:nvPr/>
        </p:nvSpPr>
        <p:spPr>
          <a:xfrm>
            <a:off x="1644134" y="427208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Texnoloji İnkişaflar</a:t>
            </a:r>
            <a:endParaRPr lang="en-US" sz="2200" dirty="0"/>
          </a:p>
        </p:txBody>
      </p:sp>
      <p:sp>
        <p:nvSpPr>
          <p:cNvPr id="9" name="Text 6"/>
          <p:cNvSpPr/>
          <p:nvPr/>
        </p:nvSpPr>
        <p:spPr>
          <a:xfrm>
            <a:off x="1644134" y="4762500"/>
            <a:ext cx="6706076" cy="72580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Platformaların tam məlumat silinməsini təmin etməsi və istifadəçi məxfiliyinin artırılması tələb olunur.</a:t>
            </a:r>
            <a:endParaRPr lang="en-US" sz="1750" dirty="0"/>
          </a:p>
        </p:txBody>
      </p:sp>
      <p:sp>
        <p:nvSpPr>
          <p:cNvPr id="10" name="Shape 7"/>
          <p:cNvSpPr/>
          <p:nvPr/>
        </p:nvSpPr>
        <p:spPr>
          <a:xfrm>
            <a:off x="1474232" y="5715119"/>
            <a:ext cx="170021" cy="1216223"/>
          </a:xfrm>
          <a:prstGeom prst="roundRect">
            <a:avLst>
              <a:gd name="adj" fmla="val 20012"/>
            </a:avLst>
          </a:prstGeom>
          <a:solidFill>
            <a:srgbClr val="F2EEEE"/>
          </a:solidFill>
          <a:ln/>
        </p:spPr>
      </p:sp>
      <p:sp>
        <p:nvSpPr>
          <p:cNvPr id="11" name="Text 8"/>
          <p:cNvSpPr/>
          <p:nvPr/>
        </p:nvSpPr>
        <p:spPr>
          <a:xfrm>
            <a:off x="1984415" y="5715119"/>
            <a:ext cx="3778448" cy="354330"/>
          </a:xfrm>
          <a:prstGeom prst="rect">
            <a:avLst/>
          </a:prstGeom>
          <a:noFill/>
          <a:ln/>
        </p:spPr>
        <p:txBody>
          <a:bodyPr wrap="none" lIns="0" tIns="0" rIns="0" bIns="0" rtlCol="0" anchor="t"/>
          <a:lstStyle/>
          <a:p>
            <a:pPr algn="l" indent="0" marL="0">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İstifadəçi Maarifləndirilməsi</a:t>
            </a:r>
            <a:endParaRPr lang="en-US" sz="2200" dirty="0"/>
          </a:p>
        </p:txBody>
      </p:sp>
      <p:sp>
        <p:nvSpPr>
          <p:cNvPr id="12" name="Text 9"/>
          <p:cNvSpPr/>
          <p:nvPr/>
        </p:nvSpPr>
        <p:spPr>
          <a:xfrm>
            <a:off x="1984415" y="6205538"/>
            <a:ext cx="6365796" cy="72580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Məxfilik siyasətlərinin sadələşdirilməsi və istifadəçilərin hüquqları barədə məlumatlandırılması önəmlidir.</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2025-05-12T20:30:39Z</dcterms:created>
  <dcterms:modified xsi:type="dcterms:W3CDTF">2025-05-12T20:30:39Z</dcterms:modified>
</cp:coreProperties>
</file>